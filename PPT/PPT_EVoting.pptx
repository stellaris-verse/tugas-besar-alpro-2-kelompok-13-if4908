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6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971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7543800" y="91440"/>
            <a:ext cx="4251960" cy="4251960"/>
          </a:xfrm>
          <a:prstGeom prst="arc">
            <a:avLst/>
          </a:prstGeom>
          <a:solidFill>
            <a:srgbClr val="0B1220">
              <a:alpha val="0"/>
            </a:srgbClr>
          </a:solidFill>
          <a:ln w="31750">
            <a:solidFill>
              <a:srgbClr val="14B8A6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73152" y="4572000"/>
            <a:ext cx="2011680" cy="201168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8BDF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731520" y="6858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</a:rPr>
              <a:t>🗳️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APLIKASI SISTEM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PEMUNGUTAN SUARA DIGITAL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58952" y="2697480"/>
            <a:ext cx="2926080" cy="384048"/>
          </a:xfrm>
          <a:prstGeom prst="rect">
            <a:avLst/>
          </a:prstGeom>
          <a:solidFill>
            <a:srgbClr val="A3E635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220"/>
                </a:solidFill>
              </a:rPr>
              <a:t>E-VOTING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5E7EB"/>
                </a:solidFill>
              </a:rPr>
              <a:t>Tugas Besar Algoritma Pemrograman 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Muhammad Zehan Royyan Wahyudi • 103012500281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Muhammad Ariq Alkosstra • 103012500030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56509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Program Studi S1 Informatika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Fakultas Informatika • Telkom University • 2026</a:t>
            </a:r>
            <a:endParaRPr lang="en-US" sz="1300" dirty="0"/>
          </a:p>
        </p:txBody>
      </p:sp>
      <p:pic>
        <p:nvPicPr>
          <p:cNvPr id="11" name="Image 0" descr="/mnt/data/evoting_report_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3209" y="5074920"/>
            <a:ext cx="1275212" cy="12344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02920" y="6309360"/>
            <a:ext cx="11064240" cy="0"/>
          </a:xfrm>
          <a:prstGeom prst="line">
            <a:avLst/>
          </a:prstGeom>
          <a:noFill/>
          <a:ln w="10160">
            <a:solidFill>
              <a:srgbClr val="1F293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0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Tugas Besar Algoritma Pemrograman 2 • E-Voting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1099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9372600" y="109728"/>
            <a:ext cx="2606040" cy="260604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-672084" y="5326380"/>
            <a:ext cx="1965960" cy="196596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Deskripsi Aplikasi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0" y="336151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Gambaran Umum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309360"/>
            <a:ext cx="11064240" cy="0"/>
          </a:xfrm>
          <a:prstGeom prst="line">
            <a:avLst/>
          </a:prstGeom>
          <a:noFill/>
          <a:ln w="10160">
            <a:solidFill>
              <a:srgbClr val="1F293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Tugas Besar Algoritma Pemrograman 2 • E-Voting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069848"/>
            <a:ext cx="106070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E-Voting adalah aplikasi untuk mengelola data pemilihan dan menghitung perolehan suara secara cepat.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77824" y="2148840"/>
            <a:ext cx="4974336" cy="141732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14B8A6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🎯  Tujuan utama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Membantu proses pemungutan suara agar data kandidat dan hasil suara dapat dikelola lebih rapi, cepat, dan terstruktur.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2148840"/>
            <a:ext cx="54864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547104" y="2148840"/>
            <a:ext cx="4974336" cy="141732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38BDF8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💻  Platform program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Program dibuat menggunakan bahasa Go dan dijalankan melalui terminal.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55080" y="2148840"/>
            <a:ext cx="54864" cy="141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877824" y="3886200"/>
            <a:ext cx="4974336" cy="141732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FBBF24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👥  Pengguna aplikasi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Panitia pemilihan dan anggota organisasi yang membutuhkan pencatatan suara sederhana.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886200"/>
            <a:ext cx="54864" cy="141732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6547104" y="3886200"/>
            <a:ext cx="4974336" cy="141732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A3E635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📦  Ruang lingkup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Implementasi program berfokus pada data kandidat dan akumulasi suara kandidat.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55080" y="3886200"/>
            <a:ext cx="54864" cy="1417320"/>
          </a:xfrm>
          <a:prstGeom prst="rect">
            <a:avLst/>
          </a:prstGeom>
          <a:solidFill>
            <a:srgbClr val="A3E6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9372600" y="109728"/>
            <a:ext cx="2606040" cy="260604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91440" y="4709160"/>
            <a:ext cx="1965960" cy="196596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yang Digunakan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35440" y="347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Kandidat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309360"/>
            <a:ext cx="11064240" cy="0"/>
          </a:xfrm>
          <a:prstGeom prst="line">
            <a:avLst/>
          </a:prstGeom>
          <a:noFill/>
          <a:ln w="10160">
            <a:solidFill>
              <a:srgbClr val="1F293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Tugas Besar Algoritma Pemrograman 2 • E-Voting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9692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5E7EB"/>
                </a:solidFill>
              </a:rPr>
              <a:t>Setiap kandidat disimpan sebagai satu paket data utama.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1691640"/>
            <a:ext cx="658368" cy="658368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220"/>
                </a:solidFill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45920" y="1664208"/>
            <a:ext cx="4251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Nomor Urut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Identitas kandidat dan kunci pencarian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658368" cy="658368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220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32320" y="1664208"/>
            <a:ext cx="4251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Nama Kandidat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Identitas yang ditampilkan ke pengguna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3703320"/>
            <a:ext cx="658368" cy="658368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220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3675888"/>
            <a:ext cx="4251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Visi Misi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Tujuan atau rencana kandidat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63640" y="3703320"/>
            <a:ext cx="658368" cy="658368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220"/>
                </a:solidFill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3675888"/>
            <a:ext cx="42519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Jumlah Suara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Akumulasi suara yang diperoleh kandidat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9604248" y="1"/>
            <a:ext cx="2606040" cy="260604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-672084" y="5389700"/>
            <a:ext cx="1965960" cy="196596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Struktur Data Program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35440" y="347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 Struct + Array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309360"/>
            <a:ext cx="11064240" cy="0"/>
          </a:xfrm>
          <a:prstGeom prst="line">
            <a:avLst/>
          </a:prstGeom>
          <a:noFill/>
          <a:ln w="10160">
            <a:solidFill>
              <a:srgbClr val="1F293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Tugas Besar Algoritma Pemrograman 2 • E-Voting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9160" y="1188720"/>
            <a:ext cx="5181600" cy="4206240"/>
          </a:xfrm>
          <a:prstGeom prst="rect">
            <a:avLst/>
          </a:prstGeom>
          <a:solidFill>
            <a:srgbClr val="07111F">
              <a:alpha val="97000"/>
            </a:srgbClr>
          </a:solidFill>
          <a:ln w="12700">
            <a:solidFill>
              <a:srgbClr val="14B8A6">
                <a:alpha val="7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const NMAX = 999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type kandidat struct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nomorUrut 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nama      string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visiMisi  string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suara     int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type tabKandidat [NMAX]kandidat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11430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Inti struktur program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629400" y="1691640"/>
            <a:ext cx="4663440" cy="82296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A3E635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①  NMAX = 999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Batas maksimal data kandidat yang dapat disimpan.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1691640"/>
            <a:ext cx="54864" cy="822960"/>
          </a:xfrm>
          <a:prstGeom prst="rect">
            <a:avLst/>
          </a:prstGeom>
          <a:solidFill>
            <a:srgbClr val="A3E6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6629400" y="2743200"/>
            <a:ext cx="4663440" cy="82296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14B8A6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②  struct kandidat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Menyimpan satu data kandidat dengan empat field utama.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46520" y="2743200"/>
            <a:ext cx="54864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6629400" y="3794760"/>
            <a:ext cx="4663440" cy="82296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38BDF8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③  tabKandidat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Array untuk menyimpan kumpulan data kandidat.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46520" y="3794760"/>
            <a:ext cx="54864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6446520" y="5074920"/>
            <a:ext cx="4846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</a:rPr>
              <a:t>Struktur ini membuat data lebih rapi dan mudah dipakai untuk searching, sorting, serta statistik.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9562011" y="0"/>
            <a:ext cx="2606040" cy="260604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91440" y="4709160"/>
            <a:ext cx="1965960" cy="196596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Fitur Pengelolaan Kandidat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35440" y="347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Kandidat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309360"/>
            <a:ext cx="11064240" cy="0"/>
          </a:xfrm>
          <a:prstGeom prst="line">
            <a:avLst/>
          </a:prstGeom>
          <a:noFill/>
          <a:ln w="10160">
            <a:solidFill>
              <a:srgbClr val="1F293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Tugas Besar Algoritma Pemrograman 2 • E-Voting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77824" y="1463040"/>
            <a:ext cx="2231136" cy="182880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14B8A6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➕  Tambah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Memasukkan nomor urut, nama, visi misi, dan suara.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1463040"/>
            <a:ext cx="54864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3639312" y="1463040"/>
            <a:ext cx="2258568" cy="182880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38BDF8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📋  Tampilkan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Menampilkan seluruh data kandidat yang tersimpan.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74720" y="1463040"/>
            <a:ext cx="54864" cy="1828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6446520" y="1463040"/>
            <a:ext cx="2240280" cy="182880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FBBF24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✏️  Ubah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Mengubah data kandidat berdasarkan nomor urut.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1463040"/>
            <a:ext cx="54864" cy="182880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9235440" y="1463040"/>
            <a:ext cx="2240280" cy="182880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FB7185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🗑️  Hapus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Menghapus data kandidat dan menggeser array agar tetap rapi.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52560" y="1463040"/>
            <a:ext cx="54864" cy="1828800"/>
          </a:xfrm>
          <a:prstGeom prst="rect">
            <a:avLst/>
          </a:prstGeom>
          <a:solidFill>
            <a:srgbClr val="FB718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1097280" y="40690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Fitur ubah dan hapus mencari kandidat terlebih dahulu menggunakan nomor urut.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920240" y="4709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4A3B8"/>
                </a:solidFill>
              </a:rPr>
              <a:t>Nomor urut menjadi identitas utama kandidat dalam program.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9585655" y="-27432"/>
            <a:ext cx="2606040" cy="260604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91440" y="4709160"/>
            <a:ext cx="1965960" cy="196596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Fitur Tambah Kandidat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35440" y="347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Validasi Input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309360"/>
            <a:ext cx="11064240" cy="0"/>
          </a:xfrm>
          <a:prstGeom prst="line">
            <a:avLst/>
          </a:prstGeom>
          <a:noFill/>
          <a:ln w="10160">
            <a:solidFill>
              <a:srgbClr val="1F293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Tugas Besar Algoritma Pemrograman 2 • E-Voting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Input yang dimasukkan user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77240" y="1691640"/>
            <a:ext cx="3566160" cy="292608"/>
          </a:xfrm>
          <a:prstGeom prst="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>
                <a:alpha val="8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Nomor urut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377440"/>
            <a:ext cx="3566160" cy="292608"/>
          </a:xfrm>
          <a:prstGeom prst="rect">
            <a:avLst/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8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Nama kandidat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063240"/>
            <a:ext cx="3566160" cy="292608"/>
          </a:xfrm>
          <a:prstGeom prst="rect">
            <a:avLst/>
          </a:prstGeom>
          <a:solidFill>
            <a:srgbClr val="FBBF24">
              <a:alpha val="85000"/>
            </a:srgbClr>
          </a:solidFill>
          <a:ln w="12700">
            <a:solidFill>
              <a:srgbClr val="FBBF24">
                <a:alpha val="8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 misi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749040"/>
            <a:ext cx="3566160" cy="292608"/>
          </a:xfrm>
          <a:prstGeom prst="rect">
            <a:avLst/>
          </a:prstGeom>
          <a:solidFill>
            <a:srgbClr val="A3E635">
              <a:alpha val="85000"/>
            </a:srgbClr>
          </a:solidFill>
          <a:ln w="12700">
            <a:solidFill>
              <a:srgbClr val="A3E635">
                <a:alpha val="8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Jumlah suara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1115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Validasi dalam fungsi tambahKandidat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623560" y="1709928"/>
            <a:ext cx="5303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✓ Data tidak melebihi NMAX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23560" y="2368296"/>
            <a:ext cx="5303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✓ Nomor urut tidak boleh 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23560" y="3026664"/>
            <a:ext cx="5303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✓ Nomor urut tidak boleh sama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23560" y="3685032"/>
            <a:ext cx="5303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</a:rPr>
              <a:t>✓ Jumlah suara tidak boleh negatif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5166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3E635"/>
                </a:solidFill>
              </a:rPr>
              <a:t>Fungsi pendukung: inputBilangan dan cariNomorSama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9585655" y="-20465"/>
            <a:ext cx="2606040" cy="260604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91440" y="4709160"/>
            <a:ext cx="1965960" cy="196596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Fitur Pencarian Kandidat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35440" y="347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Sequential + Binary Search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309360"/>
            <a:ext cx="11064240" cy="0"/>
          </a:xfrm>
          <a:prstGeom prst="line">
            <a:avLst/>
          </a:prstGeom>
          <a:noFill/>
          <a:ln w="10160">
            <a:solidFill>
              <a:srgbClr val="1F293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Tugas Besar Algoritma Pemrograman 2 • E-Voting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14984" y="1225731"/>
            <a:ext cx="4974336" cy="210312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14B8A6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🔎  Sequential Search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Mencari data dari indeks pertama sampai terakhir. Digunakan pada menu pencarian, ubah data, dan hapus data.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1234440"/>
            <a:ext cx="54864" cy="21031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6409944" y="1234440"/>
            <a:ext cx="4974336" cy="210312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38BDF8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⚡  Binary Search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Mencari data dengan membagi area pencarian. Sebelum pencarian, data diurutkan berdasarkan nomor urut menggunakan Insertion Sort.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1234440"/>
            <a:ext cx="54864" cy="2103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1143000" y="38862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Kunci pencarian pada kedua metode adalah nomor urut kandidat.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461772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4A3B8"/>
                </a:solidFill>
              </a:rPr>
              <a:t>Binary Search lebih cepat, tetapi hanya benar jika data sudah terurut.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9372600" y="109728"/>
            <a:ext cx="2606040" cy="260604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91440" y="4709160"/>
            <a:ext cx="1965960" cy="196596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Fitur Sorting Data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35440" y="347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+ Insertion Sort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309360"/>
            <a:ext cx="11064240" cy="0"/>
          </a:xfrm>
          <a:prstGeom prst="line">
            <a:avLst/>
          </a:prstGeom>
          <a:noFill/>
          <a:ln w="10160">
            <a:solidFill>
              <a:srgbClr val="1F293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Tugas Besar Algoritma Pemrograman 2 • E-Voting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36320" y="1234440"/>
            <a:ext cx="4632960" cy="146304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38BDF8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1  Suara ascending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Selection Sort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Kecil → Besar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1234440"/>
            <a:ext cx="54864" cy="1463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6531428" y="1234440"/>
            <a:ext cx="4624251" cy="146304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14B8A6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2  Suara descending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Selection Sort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Besar → Kecil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54864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1036320" y="3429000"/>
            <a:ext cx="4632960" cy="146304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A3E635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3  Nomor urut ascending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Insertion Sort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Kecil → Besar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3429000"/>
            <a:ext cx="54864" cy="1463040"/>
          </a:xfrm>
          <a:prstGeom prst="rect">
            <a:avLst/>
          </a:prstGeom>
          <a:solidFill>
            <a:srgbClr val="A3E63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6531428" y="3429000"/>
            <a:ext cx="4624252" cy="146304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FBBF24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4  Nomor urut descending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Insertion Sort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Besar → Kecil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3429000"/>
            <a:ext cx="54864" cy="146304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1097280" y="53949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4A3B8"/>
                </a:solidFill>
              </a:rPr>
              <a:t>Sorting membantu pengguna melihat data kandidat berdasarkan prioritas yang dibutuhkan.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9646920" y="-22860"/>
            <a:ext cx="2606040" cy="260604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91440" y="4709160"/>
            <a:ext cx="1965960" cy="196596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Statistik Suara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35440" y="347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Persentase + Total Suara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309360"/>
            <a:ext cx="11064240" cy="0"/>
          </a:xfrm>
          <a:prstGeom prst="line">
            <a:avLst/>
          </a:prstGeom>
          <a:noFill/>
          <a:ln w="10160">
            <a:solidFill>
              <a:srgbClr val="1F293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Tugas Besar Algoritma Pemrograman 2 • E-Voting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09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11155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Statistik yang ditampilkan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41832" y="1691640"/>
            <a:ext cx="4498848" cy="109728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14B8A6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📊  Persentase suara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Menampilkan persentase suara setiap kandidat.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1691640"/>
            <a:ext cx="54864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941832" y="2971800"/>
            <a:ext cx="4498848" cy="1097280"/>
          </a:xfrm>
          <a:prstGeom prst="rect">
            <a:avLst/>
          </a:prstGeom>
          <a:solidFill>
            <a:srgbClr val="152238">
              <a:alpha val="94000"/>
            </a:srgbClr>
          </a:solidFill>
          <a:ln w="13970">
            <a:solidFill>
              <a:srgbClr val="38BDF8">
                <a:alpha val="65000"/>
              </a:srgbClr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Σ  Total suara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</a:rPr>
              <a:t>Menampilkan total seluruh suara yang sudah masuk.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2971800"/>
            <a:ext cx="54864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492240" y="11155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Rumus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1691640"/>
            <a:ext cx="4343400" cy="1600200"/>
          </a:xfrm>
          <a:prstGeom prst="rect">
            <a:avLst/>
          </a:prstGeom>
          <a:solidFill>
            <a:srgbClr val="07111F">
              <a:alpha val="97000"/>
            </a:srgbClr>
          </a:solidFill>
          <a:ln w="12700">
            <a:solidFill>
              <a:srgbClr val="14B8A6">
                <a:alpha val="7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Persentase =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jumlah </a:t>
            </a:r>
            <a:r>
              <a:rPr lang="en-US" sz="1400" dirty="0" err="1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suara</a:t>
            </a: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</a:t>
            </a:r>
            <a:r>
              <a:rPr lang="en-US" sz="1400" dirty="0" err="1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kandidat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D1FAE5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 total suara × 100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8920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3E635"/>
                </a:solidFill>
              </a:rPr>
              <a:t>Jika total suara masih 0, program menampilkan pesan: "Belum ada suara".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9585960" y="-22860"/>
            <a:ext cx="2606040" cy="260604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-480365" y="4892040"/>
            <a:ext cx="1965960" cy="196596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Program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35440" y="347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Utama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309360"/>
            <a:ext cx="11064240" cy="0"/>
          </a:xfrm>
          <a:prstGeom prst="line">
            <a:avLst/>
          </a:prstGeom>
          <a:noFill/>
          <a:ln w="10160">
            <a:solidFill>
              <a:srgbClr val="1F293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Tugas Besar Algoritma Pemrograman 2 • E-Voting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10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234440"/>
            <a:ext cx="3154680" cy="1188720"/>
          </a:xfrm>
          <a:prstGeom prst="rect">
            <a:avLst/>
          </a:prstGeom>
          <a:solidFill>
            <a:srgbClr val="152238">
              <a:alpha val="97000"/>
            </a:srgbClr>
          </a:solidFill>
          <a:ln w="13970">
            <a:solidFill>
              <a:srgbClr val="14B8A6">
                <a:alpha val="7000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Tampilkan menu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34840" y="1234440"/>
            <a:ext cx="3154680" cy="1188720"/>
          </a:xfrm>
          <a:prstGeom prst="rect">
            <a:avLst/>
          </a:prstGeom>
          <a:solidFill>
            <a:srgbClr val="0F172A">
              <a:alpha val="97000"/>
            </a:srgbClr>
          </a:solidFill>
          <a:ln w="13970">
            <a:solidFill>
              <a:srgbClr val="38BDF8">
                <a:alpha val="7000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User pilih fitur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83880" y="1234440"/>
            <a:ext cx="3154680" cy="1188720"/>
          </a:xfrm>
          <a:prstGeom prst="rect">
            <a:avLst/>
          </a:prstGeom>
          <a:solidFill>
            <a:srgbClr val="152238">
              <a:alpha val="97000"/>
            </a:srgbClr>
          </a:solidFill>
          <a:ln w="13970">
            <a:solidFill>
              <a:srgbClr val="14B8A6">
                <a:alpha val="7000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Jalankan fungsi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5800" y="3246120"/>
            <a:ext cx="3154680" cy="1188720"/>
          </a:xfrm>
          <a:prstGeom prst="rect">
            <a:avLst/>
          </a:prstGeom>
          <a:solidFill>
            <a:srgbClr val="0F172A">
              <a:alpha val="97000"/>
            </a:srgbClr>
          </a:solidFill>
          <a:ln w="13970">
            <a:solidFill>
              <a:srgbClr val="38BDF8">
                <a:alpha val="7000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Proses data kandidat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34840" y="3246120"/>
            <a:ext cx="3154680" cy="1188720"/>
          </a:xfrm>
          <a:prstGeom prst="rect">
            <a:avLst/>
          </a:prstGeom>
          <a:solidFill>
            <a:srgbClr val="152238">
              <a:alpha val="97000"/>
            </a:srgbClr>
          </a:solidFill>
          <a:ln w="13970">
            <a:solidFill>
              <a:srgbClr val="14B8A6">
                <a:alpha val="7000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Kembali ke menu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83880" y="3246120"/>
            <a:ext cx="3154680" cy="1188720"/>
          </a:xfrm>
          <a:prstGeom prst="rect">
            <a:avLst/>
          </a:prstGeom>
          <a:solidFill>
            <a:srgbClr val="0F172A">
              <a:alpha val="97000"/>
            </a:srgbClr>
          </a:solidFill>
          <a:ln w="13970">
            <a:solidFill>
              <a:srgbClr val="38BDF8">
                <a:alpha val="70000"/>
              </a:srgbClr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Keluar jika pilih 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43000" y="5349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4A3B8"/>
                </a:solidFill>
              </a:rPr>
              <a:t>Program utama memakai perulangan dan switch case untuk menjalankan setiap menu.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9585960" y="59436"/>
            <a:ext cx="2606040" cy="260604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-672084" y="5326380"/>
            <a:ext cx="1965960" cy="196596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Fitur Tambahan di Luar Spesifikasi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35440" y="347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 Tambah Program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309360"/>
            <a:ext cx="11064240" cy="0"/>
          </a:xfrm>
          <a:prstGeom prst="line">
            <a:avLst/>
          </a:prstGeom>
          <a:noFill/>
          <a:ln w="10160">
            <a:solidFill>
              <a:srgbClr val="1F293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Tugas Besar Algoritma Pemrograman 2 • E-Voting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11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1005840"/>
            <a:ext cx="457200" cy="45720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1033272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Validasi nomor urut — Nomor urut tidak boleh 0 dan tidak boleh sama.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1993392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Validasi bilangan — Menu, nomor urut, metode sorting, dan suara tidak boleh negatif.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457200" cy="45720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2953512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Sorting lengkap — Menyediakan ascending dan descending untuk suara dan nomor urut.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3913632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Pesan kondisi data — Menampilkan pesan jika data kosong, tidak ditemukan, atau belum ada suara.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4846320"/>
            <a:ext cx="457200" cy="457200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4873752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5E7EB"/>
                </a:solidFill>
              </a:rPr>
              <a:t>Kapasitas besar — NMAX = 999 untuk menampung banyak kandidat.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9585960" y="-4572"/>
            <a:ext cx="2606040" cy="260604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-541020" y="5184648"/>
            <a:ext cx="1965960" cy="196596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Tantangan dan Solusi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35440" y="347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Implementasi Program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309360"/>
            <a:ext cx="11064240" cy="0"/>
          </a:xfrm>
          <a:prstGeom prst="line">
            <a:avLst/>
          </a:prstGeom>
          <a:noFill/>
          <a:ln w="10160">
            <a:solidFill>
              <a:srgbClr val="1F293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Tugas Besar Algoritma Pemrograman 2 • E-Voting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12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960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Tantangan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126480" y="960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Solusi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22960" y="1572768"/>
            <a:ext cx="4754880" cy="438912"/>
          </a:xfrm>
          <a:prstGeom prst="rect">
            <a:avLst/>
          </a:prstGeom>
          <a:solidFill>
            <a:srgbClr val="152238">
              <a:alpha val="96000"/>
            </a:srgbClr>
          </a:solidFill>
          <a:ln>
            <a:solidFill>
              <a:srgbClr val="14B8A6">
                <a:alpha val="45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Data kandidat harus rapi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126480" y="1572768"/>
            <a:ext cx="5074920" cy="438912"/>
          </a:xfrm>
          <a:prstGeom prst="rect">
            <a:avLst/>
          </a:prstGeom>
          <a:solidFill>
            <a:srgbClr val="0F172A">
              <a:alpha val="96000"/>
            </a:srgbClr>
          </a:solidFill>
          <a:ln>
            <a:solidFill>
              <a:srgbClr val="38BDF8">
                <a:alpha val="45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struct kandidat dan array tabKandidat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2322576"/>
            <a:ext cx="4754880" cy="438912"/>
          </a:xfrm>
          <a:prstGeom prst="rect">
            <a:avLst/>
          </a:prstGeom>
          <a:solidFill>
            <a:srgbClr val="152238">
              <a:alpha val="96000"/>
            </a:srgbClr>
          </a:solidFill>
          <a:ln>
            <a:solidFill>
              <a:srgbClr val="14B8A6">
                <a:alpha val="45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Nomor urut harus unik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126480" y="2322576"/>
            <a:ext cx="5074920" cy="438912"/>
          </a:xfrm>
          <a:prstGeom prst="rect">
            <a:avLst/>
          </a:prstGeom>
          <a:solidFill>
            <a:srgbClr val="0F172A">
              <a:alpha val="96000"/>
            </a:srgbClr>
          </a:solidFill>
          <a:ln>
            <a:solidFill>
              <a:srgbClr val="38BDF8">
                <a:alpha val="45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fungsi cariNomorSama dan validasi nomor urut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3072384"/>
            <a:ext cx="4754880" cy="438912"/>
          </a:xfrm>
          <a:prstGeom prst="rect">
            <a:avLst/>
          </a:prstGeom>
          <a:solidFill>
            <a:srgbClr val="152238">
              <a:alpha val="96000"/>
            </a:srgbClr>
          </a:solidFill>
          <a:ln>
            <a:solidFill>
              <a:srgbClr val="14B8A6">
                <a:alpha val="45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Binary Search butuh data terurut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126480" y="3072384"/>
            <a:ext cx="5074920" cy="438912"/>
          </a:xfrm>
          <a:prstGeom prst="rect">
            <a:avLst/>
          </a:prstGeom>
          <a:solidFill>
            <a:srgbClr val="0F172A">
              <a:alpha val="96000"/>
            </a:srgbClr>
          </a:solidFill>
          <a:ln>
            <a:solidFill>
              <a:srgbClr val="38BDF8">
                <a:alpha val="45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Insertion Sort sebelum Binary Search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3822192"/>
            <a:ext cx="4754880" cy="438912"/>
          </a:xfrm>
          <a:prstGeom prst="rect">
            <a:avLst/>
          </a:prstGeom>
          <a:solidFill>
            <a:srgbClr val="152238">
              <a:alpha val="96000"/>
            </a:srgbClr>
          </a:solidFill>
          <a:ln>
            <a:solidFill>
              <a:srgbClr val="14B8A6">
                <a:alpha val="45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Perlu banyak jenis sorting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126480" y="3822192"/>
            <a:ext cx="5074920" cy="438912"/>
          </a:xfrm>
          <a:prstGeom prst="rect">
            <a:avLst/>
          </a:prstGeom>
          <a:solidFill>
            <a:srgbClr val="0F172A">
              <a:alpha val="96000"/>
            </a:srgbClr>
          </a:solidFill>
          <a:ln>
            <a:solidFill>
              <a:srgbClr val="38BDF8">
                <a:alpha val="45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Selection Sort dan Insertion Sort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2960" y="4572000"/>
            <a:ext cx="4754880" cy="438912"/>
          </a:xfrm>
          <a:prstGeom prst="rect">
            <a:avLst/>
          </a:prstGeom>
          <a:solidFill>
            <a:srgbClr val="152238">
              <a:alpha val="96000"/>
            </a:srgbClr>
          </a:solidFill>
          <a:ln>
            <a:solidFill>
              <a:srgbClr val="14B8A6">
                <a:alpha val="45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Statistik harus tepat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126480" y="4572000"/>
            <a:ext cx="5074920" cy="438912"/>
          </a:xfrm>
          <a:prstGeom prst="rect">
            <a:avLst/>
          </a:prstGeom>
          <a:solidFill>
            <a:srgbClr val="0F172A">
              <a:alpha val="96000"/>
            </a:srgbClr>
          </a:solidFill>
          <a:ln>
            <a:solidFill>
              <a:srgbClr val="38BDF8">
                <a:alpha val="45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5E7EB"/>
                </a:solidFill>
              </a:rPr>
              <a:t>hitung total suara dulu</a:t>
            </a:r>
            <a:endParaRPr lang="en-US" sz="1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9686108" y="22860"/>
            <a:ext cx="2606040" cy="260604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14B8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91440" y="4709160"/>
            <a:ext cx="1965960" cy="1965960"/>
          </a:xfrm>
          <a:prstGeom prst="arc">
            <a:avLst/>
          </a:prstGeom>
          <a:solidFill>
            <a:srgbClr val="0B1220">
              <a:alpha val="0"/>
            </a:srgbClr>
          </a:solidFill>
          <a:ln w="25400">
            <a:solidFill>
              <a:srgbClr val="38BDF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02920" y="31089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 dan Rekomendasi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235440" y="3474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Penutup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6309360"/>
            <a:ext cx="11064240" cy="0"/>
          </a:xfrm>
          <a:prstGeom prst="line">
            <a:avLst/>
          </a:prstGeom>
          <a:noFill/>
          <a:ln w="10160">
            <a:solidFill>
              <a:srgbClr val="1F293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Tugas Besar Algoritma Pemrograman 2 • E-Voting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46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13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Kesimpulan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53035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5E7EB"/>
                </a:solidFill>
              </a:rPr>
              <a:t>Aplikasi E-Voting berhasil dibuat untuk mengelola data kandidat, mencari data, mengurutkan data, dan menampilkan statistik suara melalui program berbasis terminal.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3108960"/>
            <a:ext cx="53035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</a:rPr>
              <a:t>Fitur utama sesuai spesifikasi: CRUD kandidat, Sequential Search, Binary Search, Selection Sort, Insertion Sort, dan statistik suara.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Rekomendasi Pengembangan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1600200"/>
            <a:ext cx="4709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</a:rPr>
              <a:t>• Data pemilih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103120"/>
            <a:ext cx="4709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</a:rPr>
              <a:t>• Validasi satu pemilih satu suara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606040"/>
            <a:ext cx="4709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</a:rPr>
              <a:t>• Login admin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3108960"/>
            <a:ext cx="4709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</a:rPr>
              <a:t>• Penyimpanan file/database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3611880"/>
            <a:ext cx="4709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5E7EB"/>
                </a:solidFill>
              </a:rPr>
              <a:t>• Input nama dan visi misi lebih dari satu kata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5486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A3E635"/>
                </a:solidFill>
              </a:rPr>
              <a:t>Terima kasih</a:t>
            </a:r>
            <a:endParaRPr lang="en-US" sz="2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928</Words>
  <Application>Microsoft Office PowerPoint</Application>
  <PresentationFormat>Widescreen</PresentationFormat>
  <Paragraphs>206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Telkom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E-Voting</dc:title>
  <dc:subject>Aplikasi Sistem Pemungutan Suara Digital E-Voting</dc:subject>
  <dc:creator>OpenAI</dc:creator>
  <cp:lastModifiedBy>MUHAMMAD ZEHAN ROYYAN WAHYUDI</cp:lastModifiedBy>
  <cp:revision>4</cp:revision>
  <dcterms:created xsi:type="dcterms:W3CDTF">2026-06-15T14:00:57Z</dcterms:created>
  <dcterms:modified xsi:type="dcterms:W3CDTF">2026-06-15T14:16:32Z</dcterms:modified>
</cp:coreProperties>
</file>